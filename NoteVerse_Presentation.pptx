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576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oteverse_ppt/icons/Folder_brown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7863840" y="1097280"/>
            <a:ext cx="4846320" cy="4846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3317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B23A2E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FILE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2651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NoteVerse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868680" y="3794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A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Notes-Sharing Platform for Students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8680" y="4526280"/>
            <a:ext cx="3291840" cy="0"/>
          </a:xfrm>
          <a:prstGeom prst="line">
            <a:avLst/>
          </a:prstGeom>
          <a:noFill/>
          <a:ln w="12700">
            <a:solidFill>
              <a:srgbClr val="C9A3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709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Ibad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Second Year Capstone Project  •  Gujarat Technological University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A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struggle to manage study notes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8D9B5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flipH="1">
            <a:off x="3794760" y="2331720"/>
            <a:ext cx="320040" cy="320040"/>
          </a:xfrm>
          <a:prstGeom prst="lin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651760"/>
            <a:ext cx="685800" cy="685800"/>
          </a:xfrm>
          <a:prstGeom prst="ellipse">
            <a:avLst/>
          </a:prstGeom>
          <a:solidFill>
            <a:srgbClr val="5C4630"/>
          </a:solidFill>
          <a:ln/>
        </p:spPr>
      </p:sp>
      <p:pic>
        <p:nvPicPr>
          <p:cNvPr id="9" name="Image 0" descr="/home/claude/noteverse_ppt/icons/Alert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798064"/>
            <a:ext cx="393192" cy="393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Across Platforms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4160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end up spread across WhatsApp, Drive links, and printouts with no single home.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23317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8D9B5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 flipH="1">
            <a:off x="7680960" y="2331720"/>
            <a:ext cx="320040" cy="320040"/>
          </a:xfrm>
          <a:prstGeom prst="line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754880" y="2651760"/>
            <a:ext cx="685800" cy="685800"/>
          </a:xfrm>
          <a:prstGeom prst="ellipse">
            <a:avLst/>
          </a:prstGeom>
          <a:solidFill>
            <a:srgbClr val="5C4630"/>
          </a:solidFill>
          <a:ln/>
        </p:spPr>
      </p:sp>
      <p:pic>
        <p:nvPicPr>
          <p:cNvPr id="15" name="Image 1" descr="/home/claude/noteverse_ppt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798064"/>
            <a:ext cx="393192" cy="3931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Find Anything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709160" y="4160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search by subject, semester, or unit when exam week hits.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321040" y="23317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8D9B5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 flipH="1">
            <a:off x="11567160" y="2331720"/>
            <a:ext cx="320040" cy="320040"/>
          </a:xfrm>
          <a:prstGeom prst="line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8641080" y="2651760"/>
            <a:ext cx="685800" cy="685800"/>
          </a:xfrm>
          <a:prstGeom prst="ellipse">
            <a:avLst/>
          </a:prstGeom>
          <a:solidFill>
            <a:srgbClr val="5C4630"/>
          </a:solidFill>
          <a:ln/>
        </p:spPr>
      </p:sp>
      <p:pic>
        <p:nvPicPr>
          <p:cNvPr id="21" name="Image 2" descr="/home/claude/noteverse_ppt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7384" y="2798064"/>
            <a:ext cx="393192" cy="3931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95360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Easy Sharing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595360" y="4160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sharing relies on personal contacts instead of an open, organized library.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NoteVerse turns scattered notes into one organized, searchable library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E8D9B5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606040"/>
            <a:ext cx="777240" cy="777240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8" name="Image 0" descr="/home/claude/noteverse_ppt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7706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4871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Repository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29443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to upload, store, and revisit notes by subject and semester.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22860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E8D9B5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2606040"/>
            <a:ext cx="777240" cy="777240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13" name="Image 1" descr="/home/claude/noteverse_ppt/icons/Uploa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77063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4871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Effortless Uploading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43800" y="29443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upload flow with tagging, so contributing notes takes seconds.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4805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E8D9B5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800600"/>
            <a:ext cx="777240" cy="777240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18" name="Image 2" descr="/home/claude/noteverse_ppt/icon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96519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681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 Search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828800" y="51389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subject, semester, or unit to find exactly what's needed, fast.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63640" y="44805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E8D9B5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37960" y="4800600"/>
            <a:ext cx="777240" cy="777240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23" name="Image 3" descr="/home/claude/noteverse_ppt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496519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43800" y="4681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Peers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543800" y="51389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how students actually study and share with classmates.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2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classic, reliable three-tier build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4A382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6517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C9A366"/>
          </a:solidFill>
          <a:ln/>
        </p:spPr>
      </p:sp>
      <p:pic>
        <p:nvPicPr>
          <p:cNvPr id="8" name="Image 0" descr="/home/claude/noteverse_ppt/icons/Coffee_darkb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862072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4206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BACKEND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46634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A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business logic, request processing, and server-side operations for the platform.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16552" y="233172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4A3826"/>
          </a:solidFill>
          <a:ln/>
        </p:spPr>
      </p:sp>
      <p:sp>
        <p:nvSpPr>
          <p:cNvPr id="13" name="Shape 10"/>
          <p:cNvSpPr/>
          <p:nvPr/>
        </p:nvSpPr>
        <p:spPr>
          <a:xfrm>
            <a:off x="4736592" y="26517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C9A366"/>
          </a:solidFill>
          <a:ln/>
        </p:spPr>
      </p:sp>
      <p:pic>
        <p:nvPicPr>
          <p:cNvPr id="14" name="Image 1" descr="/home/claude/noteverse_ppt/icons/Database_darkb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2862072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36592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736592" y="4206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RELATIONAL DATABASE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736592" y="46634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A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users, note metadata, subjects, and categories with structured relational integrity.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84464" y="233172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4A3826"/>
          </a:solidFill>
          <a:ln/>
        </p:spPr>
      </p:sp>
      <p:sp>
        <p:nvSpPr>
          <p:cNvPr id="19" name="Shape 15"/>
          <p:cNvSpPr/>
          <p:nvPr/>
        </p:nvSpPr>
        <p:spPr>
          <a:xfrm>
            <a:off x="8604504" y="26517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C9A366"/>
          </a:solidFill>
          <a:ln/>
        </p:spPr>
      </p:sp>
      <p:pic>
        <p:nvPicPr>
          <p:cNvPr id="20" name="Image 2" descr="/home/claude/noteverse_ppt/icons/Code_darkbr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16" y="2862072"/>
            <a:ext cx="585216" cy="5852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04504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&amp; CSS3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604504" y="4206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MULTI-PAGE FRONTEND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604504" y="46634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A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multi-page interface styled with a distinctive manila-folder visual theme throughout.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A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three-tier request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301752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F0E4C8"/>
          </a:solidFill>
          <a:ln w="19050">
            <a:solidFill>
              <a:srgbClr val="C9A366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3337560"/>
            <a:ext cx="914400" cy="914400"/>
          </a:xfrm>
          <a:prstGeom prst="ellipse">
            <a:avLst/>
          </a:prstGeom>
          <a:solidFill>
            <a:srgbClr val="5C4630"/>
          </a:solidFill>
          <a:ln/>
        </p:spPr>
      </p:sp>
      <p:pic>
        <p:nvPicPr>
          <p:cNvPr id="8" name="Image 0" descr="/home/claude/noteverse_ppt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5204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4800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pages rendered in the browser</a:t>
            </a:r>
            <a:endParaRPr lang="en-US" sz="1100" dirty="0"/>
          </a:p>
        </p:txBody>
      </p:sp>
      <p:pic>
        <p:nvPicPr>
          <p:cNvPr id="11" name="Image 1" descr="/home/claude/noteverse_ppt/icons/ArrowRight_b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977640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00600" y="301752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5C4630"/>
          </a:solidFill>
          <a:ln w="19050">
            <a:solidFill>
              <a:srgbClr val="C9A366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52160" y="3337560"/>
            <a:ext cx="914400" cy="914400"/>
          </a:xfrm>
          <a:prstGeom prst="ellipse">
            <a:avLst/>
          </a:prstGeom>
          <a:solidFill>
            <a:srgbClr val="C9A366"/>
          </a:solidFill>
          <a:ln/>
        </p:spPr>
      </p:sp>
      <p:pic>
        <p:nvPicPr>
          <p:cNvPr id="14" name="Image 2" descr="/home/claude/noteverse_ppt/icons/Server_darkbr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5204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060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Backend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83480" y="4800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9A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requests &amp; business logic</a:t>
            </a:r>
            <a:endParaRPr lang="en-US" sz="1100" dirty="0"/>
          </a:p>
        </p:txBody>
      </p:sp>
      <p:pic>
        <p:nvPicPr>
          <p:cNvPr id="17" name="Image 3" descr="/home/claude/noteverse_ppt/icons/ArrowRight_b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977640"/>
            <a:ext cx="457200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732520" y="301752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F0E4C8"/>
          </a:solidFill>
          <a:ln w="19050">
            <a:solidFill>
              <a:srgbClr val="C9A366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784080" y="3337560"/>
            <a:ext cx="914400" cy="914400"/>
          </a:xfrm>
          <a:prstGeom prst="ellipse">
            <a:avLst/>
          </a:prstGeom>
          <a:solidFill>
            <a:srgbClr val="5C4630"/>
          </a:solidFill>
          <a:ln/>
        </p:spPr>
      </p:sp>
      <p:pic>
        <p:nvPicPr>
          <p:cNvPr id="20" name="Image 4" descr="/home/claude/noteverse_ppt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352044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3252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8915400" y="4800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users, notes &amp; metadata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868680" y="5806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sends a request  →  Java backend applies logic  →  MySQL stores &amp; returns data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Language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manila-folder aesthetic carried across every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C9A36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748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0E4C8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flipH="1">
            <a:off x="3822192" y="2697480"/>
            <a:ext cx="292608" cy="292608"/>
          </a:xfrm>
          <a:prstGeom prst="lin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noteverse_ppt/icons/Folder_b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718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Tabbed Navigation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22960" y="4114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styled as folder tabs, echoing a physical filing system.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237744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C9A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269748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0E4C8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 flipH="1">
            <a:off x="7708392" y="2697480"/>
            <a:ext cx="292608" cy="292608"/>
          </a:xfrm>
          <a:prstGeom prst="line">
            <a:avLst/>
          </a:prstGeom>
          <a:solidFill>
            <a:srgbClr val="FFFFFF"/>
          </a:solidFill>
          <a:ln/>
        </p:spPr>
      </p:sp>
      <p:pic>
        <p:nvPicPr>
          <p:cNvPr id="15" name="Image 1" descr="/home/claude/noteverse_ppt/icons/Tag_b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9718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Kraft Palette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709160" y="4114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 tan, kraft brown, and stamp-red tie every page together.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321040" y="237744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C9A366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1040" y="269748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0E4C8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 flipH="1">
            <a:off x="11594592" y="2697480"/>
            <a:ext cx="292608" cy="292608"/>
          </a:xfrm>
          <a:prstGeom prst="line">
            <a:avLst/>
          </a:prstGeom>
          <a:solidFill>
            <a:srgbClr val="FFFFFF"/>
          </a:solidFill>
          <a:ln/>
        </p:spPr>
      </p:sp>
      <p:pic>
        <p:nvPicPr>
          <p:cNvPr id="21" name="Image 2" descr="/home/claude/noteverse_ppt/icons/PenTool_br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9718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9536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Paper-Card Layouts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595360" y="4114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sits on card 'documents' with soft shadows &amp; dog-ear folds.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NoteVerse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pages, one connected experience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4A382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65176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B23A2E"/>
          </a:solidFill>
          <a:ln/>
        </p:spPr>
      </p:sp>
      <p:pic>
        <p:nvPicPr>
          <p:cNvPr id="8" name="Image 0" descr="/home/claude/noteverse_ppt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82549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0" y="2441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91640" y="233172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60520" y="233172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4A3826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265176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B23A2E"/>
          </a:solidFill>
          <a:ln/>
        </p:spPr>
      </p:sp>
      <p:pic>
        <p:nvPicPr>
          <p:cNvPr id="13" name="Image 1" descr="/home/claude/noteverse_ppt/icons/Log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825496"/>
            <a:ext cx="429768" cy="4297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12280" y="2441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303520" y="233172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/ Signup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772400" y="233172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4A3826"/>
          </a:solidFill>
          <a:ln/>
        </p:spPr>
      </p:sp>
      <p:sp>
        <p:nvSpPr>
          <p:cNvPr id="17" name="Shape 13"/>
          <p:cNvSpPr/>
          <p:nvPr/>
        </p:nvSpPr>
        <p:spPr>
          <a:xfrm>
            <a:off x="8001000" y="265176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B23A2E"/>
          </a:solidFill>
          <a:ln/>
        </p:spPr>
      </p:sp>
      <p:pic>
        <p:nvPicPr>
          <p:cNvPr id="18" name="Image 2" descr="/home/claude/noteverse_ppt/icons/Gri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2825496"/>
            <a:ext cx="429768" cy="4297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0" y="2441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915400" y="233172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402336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4A3826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434340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B23A2E"/>
          </a:solidFill>
          <a:ln/>
        </p:spPr>
      </p:sp>
      <p:pic>
        <p:nvPicPr>
          <p:cNvPr id="23" name="Image 3" descr="/home/claude/noteverse_ppt/icons/Uploa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517136"/>
            <a:ext cx="429768" cy="4297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200400" y="4133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691640" y="402336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Notes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160520" y="402336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4A3826"/>
          </a:solidFill>
          <a:ln/>
        </p:spPr>
      </p:sp>
      <p:sp>
        <p:nvSpPr>
          <p:cNvPr id="27" name="Shape 21"/>
          <p:cNvSpPr/>
          <p:nvPr/>
        </p:nvSpPr>
        <p:spPr>
          <a:xfrm>
            <a:off x="4389120" y="434340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B23A2E"/>
          </a:solidFill>
          <a:ln/>
        </p:spPr>
      </p:sp>
      <p:pic>
        <p:nvPicPr>
          <p:cNvPr id="28" name="Image 4" descr="/home/claude/noteverse_ppt/icons/Sear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856" y="4517136"/>
            <a:ext cx="429768" cy="4297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12280" y="4133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303520" y="402336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/ Search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7772400" y="402336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4A3826"/>
          </a:solidFill>
          <a:ln/>
        </p:spPr>
      </p:sp>
      <p:sp>
        <p:nvSpPr>
          <p:cNvPr id="32" name="Shape 25"/>
          <p:cNvSpPr/>
          <p:nvPr/>
        </p:nvSpPr>
        <p:spPr>
          <a:xfrm>
            <a:off x="8001000" y="434340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B23A2E"/>
          </a:solidFill>
          <a:ln/>
        </p:spPr>
      </p:sp>
      <p:pic>
        <p:nvPicPr>
          <p:cNvPr id="33" name="Image 5" descr="/home/claude/noteverse_ppt/icons/Us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4736" y="4517136"/>
            <a:ext cx="429768" cy="4297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424160" y="4133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8915400" y="402336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A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PAGE 08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31520" cy="731520"/>
          </a:xfrm>
          <a:prstGeom prst="ellipse">
            <a:avLst/>
          </a:prstGeom>
          <a:solidFill>
            <a:srgbClr val="5C4630"/>
          </a:solidFill>
          <a:ln/>
        </p:spPr>
      </p:sp>
      <p:pic>
        <p:nvPicPr>
          <p:cNvPr id="5" name="Image 0" descr="/home/claude/noteverse_ppt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161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463040" y="15361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welcoming entry point into the NoteVerse library.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86584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58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 introducing the platform to new visitors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53512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8254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added &amp; most-viewed notes, front and center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3924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folder tiles for quick, one-click browsing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087368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9593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search bar for jumping straight to content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903720" y="1965960"/>
            <a:ext cx="46634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C9A366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03720" y="1965960"/>
            <a:ext cx="4663440" cy="292608"/>
          </a:xfrm>
          <a:prstGeom prst="roundRect">
            <a:avLst>
              <a:gd name="adj" fmla="val 25000"/>
            </a:avLst>
          </a:prstGeom>
          <a:solidFill>
            <a:srgbClr val="5C463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03720" y="2112264"/>
            <a:ext cx="4663440" cy="146304"/>
          </a:xfrm>
          <a:prstGeom prst="rect">
            <a:avLst/>
          </a:prstGeom>
          <a:solidFill>
            <a:srgbClr val="5C4630"/>
          </a:solidFill>
          <a:ln/>
        </p:spPr>
      </p:sp>
      <p:sp>
        <p:nvSpPr>
          <p:cNvPr id="19" name="Shape 16"/>
          <p:cNvSpPr/>
          <p:nvPr/>
        </p:nvSpPr>
        <p:spPr>
          <a:xfrm>
            <a:off x="703173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0" name="Shape 17"/>
          <p:cNvSpPr/>
          <p:nvPr/>
        </p:nvSpPr>
        <p:spPr>
          <a:xfrm>
            <a:off x="721461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1" name="Shape 18"/>
          <p:cNvSpPr/>
          <p:nvPr/>
        </p:nvSpPr>
        <p:spPr>
          <a:xfrm>
            <a:off x="739749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2" name="Shape 19"/>
          <p:cNvSpPr/>
          <p:nvPr/>
        </p:nvSpPr>
        <p:spPr>
          <a:xfrm>
            <a:off x="69951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C9A366"/>
          </a:solidFill>
          <a:ln/>
        </p:spPr>
      </p:sp>
      <p:sp>
        <p:nvSpPr>
          <p:cNvPr id="23" name="Text 20"/>
          <p:cNvSpPr/>
          <p:nvPr/>
        </p:nvSpPr>
        <p:spPr>
          <a:xfrm>
            <a:off x="69951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74192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5" name="Text 22"/>
          <p:cNvSpPr/>
          <p:nvPr/>
        </p:nvSpPr>
        <p:spPr>
          <a:xfrm>
            <a:off x="774192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48868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7" name="Text 24"/>
          <p:cNvSpPr/>
          <p:nvPr/>
        </p:nvSpPr>
        <p:spPr>
          <a:xfrm>
            <a:off x="848868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3544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9" name="Text 26"/>
          <p:cNvSpPr/>
          <p:nvPr/>
        </p:nvSpPr>
        <p:spPr>
          <a:xfrm>
            <a:off x="923544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8220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31" name="Text 28"/>
          <p:cNvSpPr/>
          <p:nvPr/>
        </p:nvSpPr>
        <p:spPr>
          <a:xfrm>
            <a:off x="998220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7289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33" name="Text 30"/>
          <p:cNvSpPr/>
          <p:nvPr/>
        </p:nvSpPr>
        <p:spPr>
          <a:xfrm>
            <a:off x="107289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995160" y="2642616"/>
            <a:ext cx="4480560" cy="3163824"/>
          </a:xfrm>
          <a:prstGeom prst="rect">
            <a:avLst/>
          </a:prstGeom>
          <a:solidFill>
            <a:srgbClr val="F0E4C8"/>
          </a:solidFill>
          <a:ln/>
        </p:spPr>
      </p:sp>
      <p:sp>
        <p:nvSpPr>
          <p:cNvPr id="35" name="Shape 32"/>
          <p:cNvSpPr/>
          <p:nvPr/>
        </p:nvSpPr>
        <p:spPr>
          <a:xfrm>
            <a:off x="7132320" y="2779776"/>
            <a:ext cx="4206240" cy="502920"/>
          </a:xfrm>
          <a:prstGeom prst="rect">
            <a:avLst/>
          </a:prstGeom>
          <a:solidFill>
            <a:srgbClr val="C9A366"/>
          </a:solidFill>
          <a:ln/>
        </p:spPr>
      </p:sp>
      <p:sp>
        <p:nvSpPr>
          <p:cNvPr id="36" name="Text 33"/>
          <p:cNvSpPr/>
          <p:nvPr/>
        </p:nvSpPr>
        <p:spPr>
          <a:xfrm>
            <a:off x="7269480" y="28254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2E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NoteVerse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132320" y="3419856"/>
            <a:ext cx="13106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534400" y="3419856"/>
            <a:ext cx="13106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936480" y="3419856"/>
            <a:ext cx="13106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PAGE 09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31520" cy="731520"/>
          </a:xfrm>
          <a:prstGeom prst="ellipse">
            <a:avLst/>
          </a:prstGeom>
          <a:solidFill>
            <a:srgbClr val="5C4630"/>
          </a:solidFill>
          <a:ln/>
        </p:spPr>
      </p:sp>
      <p:pic>
        <p:nvPicPr>
          <p:cNvPr id="5" name="Image 0" descr="/home/claude/noteverse_ppt/icons/Log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161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/ Signup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463040" y="15361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gateway before anyone can upload or save notes.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86584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58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Login and Signup in one clean form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53512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8254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password fields with basic validation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3924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authentication keeps users signed in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087368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9593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straight to the Dashboard after sign-in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903720" y="1965960"/>
            <a:ext cx="46634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C9A366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03720" y="1965960"/>
            <a:ext cx="4663440" cy="292608"/>
          </a:xfrm>
          <a:prstGeom prst="roundRect">
            <a:avLst>
              <a:gd name="adj" fmla="val 25000"/>
            </a:avLst>
          </a:prstGeom>
          <a:solidFill>
            <a:srgbClr val="5C463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03720" y="2112264"/>
            <a:ext cx="4663440" cy="146304"/>
          </a:xfrm>
          <a:prstGeom prst="rect">
            <a:avLst/>
          </a:prstGeom>
          <a:solidFill>
            <a:srgbClr val="5C4630"/>
          </a:solidFill>
          <a:ln/>
        </p:spPr>
      </p:sp>
      <p:sp>
        <p:nvSpPr>
          <p:cNvPr id="19" name="Shape 16"/>
          <p:cNvSpPr/>
          <p:nvPr/>
        </p:nvSpPr>
        <p:spPr>
          <a:xfrm>
            <a:off x="703173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0" name="Shape 17"/>
          <p:cNvSpPr/>
          <p:nvPr/>
        </p:nvSpPr>
        <p:spPr>
          <a:xfrm>
            <a:off x="721461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1" name="Shape 18"/>
          <p:cNvSpPr/>
          <p:nvPr/>
        </p:nvSpPr>
        <p:spPr>
          <a:xfrm>
            <a:off x="739749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2" name="Shape 19"/>
          <p:cNvSpPr/>
          <p:nvPr/>
        </p:nvSpPr>
        <p:spPr>
          <a:xfrm>
            <a:off x="69951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3" name="Text 20"/>
          <p:cNvSpPr/>
          <p:nvPr/>
        </p:nvSpPr>
        <p:spPr>
          <a:xfrm>
            <a:off x="69951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74192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C9A366"/>
          </a:solidFill>
          <a:ln/>
        </p:spPr>
      </p:sp>
      <p:sp>
        <p:nvSpPr>
          <p:cNvPr id="25" name="Text 22"/>
          <p:cNvSpPr/>
          <p:nvPr/>
        </p:nvSpPr>
        <p:spPr>
          <a:xfrm>
            <a:off x="774192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48868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7" name="Text 24"/>
          <p:cNvSpPr/>
          <p:nvPr/>
        </p:nvSpPr>
        <p:spPr>
          <a:xfrm>
            <a:off x="848868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3544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9" name="Text 26"/>
          <p:cNvSpPr/>
          <p:nvPr/>
        </p:nvSpPr>
        <p:spPr>
          <a:xfrm>
            <a:off x="923544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8220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31" name="Text 28"/>
          <p:cNvSpPr/>
          <p:nvPr/>
        </p:nvSpPr>
        <p:spPr>
          <a:xfrm>
            <a:off x="998220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7289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33" name="Text 30"/>
          <p:cNvSpPr/>
          <p:nvPr/>
        </p:nvSpPr>
        <p:spPr>
          <a:xfrm>
            <a:off x="107289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995160" y="2642616"/>
            <a:ext cx="4480560" cy="3163824"/>
          </a:xfrm>
          <a:prstGeom prst="rect">
            <a:avLst/>
          </a:prstGeom>
          <a:solidFill>
            <a:srgbClr val="F0E4C8"/>
          </a:solidFill>
          <a:ln/>
        </p:spPr>
      </p:sp>
      <p:sp>
        <p:nvSpPr>
          <p:cNvPr id="35" name="Shape 32"/>
          <p:cNvSpPr/>
          <p:nvPr/>
        </p:nvSpPr>
        <p:spPr>
          <a:xfrm>
            <a:off x="8138160" y="2825496"/>
            <a:ext cx="219456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034272" y="3008376"/>
            <a:ext cx="402336" cy="402336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37" name="Shape 34"/>
          <p:cNvSpPr/>
          <p:nvPr/>
        </p:nvSpPr>
        <p:spPr>
          <a:xfrm>
            <a:off x="8321040" y="3602736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E8D9B5"/>
          </a:solidFill>
          <a:ln/>
        </p:spPr>
      </p:sp>
      <p:sp>
        <p:nvSpPr>
          <p:cNvPr id="38" name="Shape 35"/>
          <p:cNvSpPr/>
          <p:nvPr/>
        </p:nvSpPr>
        <p:spPr>
          <a:xfrm>
            <a:off x="8321040" y="4059936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E8D9B5"/>
          </a:solidFill>
          <a:ln/>
        </p:spPr>
      </p:sp>
      <p:sp>
        <p:nvSpPr>
          <p:cNvPr id="39" name="Shape 36"/>
          <p:cNvSpPr/>
          <p:nvPr/>
        </p:nvSpPr>
        <p:spPr>
          <a:xfrm>
            <a:off x="8321040" y="4562856"/>
            <a:ext cx="1828800" cy="320040"/>
          </a:xfrm>
          <a:prstGeom prst="roundRect">
            <a:avLst>
              <a:gd name="adj" fmla="val 11429"/>
            </a:avLst>
          </a:prstGeom>
          <a:solidFill>
            <a:srgbClr val="B23A2E"/>
          </a:solidFill>
          <a:ln/>
        </p:spPr>
      </p:sp>
      <p:sp>
        <p:nvSpPr>
          <p:cNvPr id="40" name="Text 37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PAGE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31520" cy="731520"/>
          </a:xfrm>
          <a:prstGeom prst="ellipse">
            <a:avLst/>
          </a:prstGeom>
          <a:solidFill>
            <a:srgbClr val="5C4630"/>
          </a:solidFill>
          <a:ln/>
        </p:spPr>
      </p:sp>
      <p:pic>
        <p:nvPicPr>
          <p:cNvPr id="5" name="Image 0" descr="/home/claude/noteverse_ppt/icons/Gri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161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463040" y="15361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home base after logging in.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86584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58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the user's uploaded and saved notes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53512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8254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Quick-action shortcuts: upload, browse, edit profile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3924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activity stats — uploads, downloads, bookmarks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087368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9593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linking out to every other page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903720" y="1965960"/>
            <a:ext cx="46634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C9A366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03720" y="1965960"/>
            <a:ext cx="4663440" cy="292608"/>
          </a:xfrm>
          <a:prstGeom prst="roundRect">
            <a:avLst>
              <a:gd name="adj" fmla="val 25000"/>
            </a:avLst>
          </a:prstGeom>
          <a:solidFill>
            <a:srgbClr val="5C463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03720" y="2112264"/>
            <a:ext cx="4663440" cy="146304"/>
          </a:xfrm>
          <a:prstGeom prst="rect">
            <a:avLst/>
          </a:prstGeom>
          <a:solidFill>
            <a:srgbClr val="5C4630"/>
          </a:solidFill>
          <a:ln/>
        </p:spPr>
      </p:sp>
      <p:sp>
        <p:nvSpPr>
          <p:cNvPr id="19" name="Shape 16"/>
          <p:cNvSpPr/>
          <p:nvPr/>
        </p:nvSpPr>
        <p:spPr>
          <a:xfrm>
            <a:off x="703173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0" name="Shape 17"/>
          <p:cNvSpPr/>
          <p:nvPr/>
        </p:nvSpPr>
        <p:spPr>
          <a:xfrm>
            <a:off x="721461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1" name="Shape 18"/>
          <p:cNvSpPr/>
          <p:nvPr/>
        </p:nvSpPr>
        <p:spPr>
          <a:xfrm>
            <a:off x="739749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2" name="Shape 19"/>
          <p:cNvSpPr/>
          <p:nvPr/>
        </p:nvSpPr>
        <p:spPr>
          <a:xfrm>
            <a:off x="69951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3" name="Text 20"/>
          <p:cNvSpPr/>
          <p:nvPr/>
        </p:nvSpPr>
        <p:spPr>
          <a:xfrm>
            <a:off x="69951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74192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5" name="Text 22"/>
          <p:cNvSpPr/>
          <p:nvPr/>
        </p:nvSpPr>
        <p:spPr>
          <a:xfrm>
            <a:off x="774192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48868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C9A366"/>
          </a:solidFill>
          <a:ln/>
        </p:spPr>
      </p:sp>
      <p:sp>
        <p:nvSpPr>
          <p:cNvPr id="27" name="Text 24"/>
          <p:cNvSpPr/>
          <p:nvPr/>
        </p:nvSpPr>
        <p:spPr>
          <a:xfrm>
            <a:off x="848868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3544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9" name="Text 26"/>
          <p:cNvSpPr/>
          <p:nvPr/>
        </p:nvSpPr>
        <p:spPr>
          <a:xfrm>
            <a:off x="923544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8220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31" name="Text 28"/>
          <p:cNvSpPr/>
          <p:nvPr/>
        </p:nvSpPr>
        <p:spPr>
          <a:xfrm>
            <a:off x="998220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7289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33" name="Text 30"/>
          <p:cNvSpPr/>
          <p:nvPr/>
        </p:nvSpPr>
        <p:spPr>
          <a:xfrm>
            <a:off x="107289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995160" y="2642616"/>
            <a:ext cx="4480560" cy="3163824"/>
          </a:xfrm>
          <a:prstGeom prst="rect">
            <a:avLst/>
          </a:prstGeom>
          <a:solidFill>
            <a:srgbClr val="F0E4C8"/>
          </a:solidFill>
          <a:ln/>
        </p:spPr>
      </p:sp>
      <p:sp>
        <p:nvSpPr>
          <p:cNvPr id="35" name="Shape 32"/>
          <p:cNvSpPr/>
          <p:nvPr/>
        </p:nvSpPr>
        <p:spPr>
          <a:xfrm>
            <a:off x="7132320" y="2779776"/>
            <a:ext cx="1310640" cy="640080"/>
          </a:xfrm>
          <a:prstGeom prst="roundRect">
            <a:avLst>
              <a:gd name="adj" fmla="val 7143"/>
            </a:avLst>
          </a:prstGeom>
          <a:solidFill>
            <a:srgbClr val="C9A366"/>
          </a:solidFill>
          <a:ln/>
        </p:spPr>
      </p:sp>
      <p:sp>
        <p:nvSpPr>
          <p:cNvPr id="36" name="Shape 33"/>
          <p:cNvSpPr/>
          <p:nvPr/>
        </p:nvSpPr>
        <p:spPr>
          <a:xfrm>
            <a:off x="8534400" y="2779776"/>
            <a:ext cx="1310640" cy="640080"/>
          </a:xfrm>
          <a:prstGeom prst="roundRect">
            <a:avLst>
              <a:gd name="adj" fmla="val 7143"/>
            </a:avLst>
          </a:prstGeom>
          <a:solidFill>
            <a:srgbClr val="C9A366"/>
          </a:solidFill>
          <a:ln/>
        </p:spPr>
      </p:sp>
      <p:sp>
        <p:nvSpPr>
          <p:cNvPr id="37" name="Shape 34"/>
          <p:cNvSpPr/>
          <p:nvPr/>
        </p:nvSpPr>
        <p:spPr>
          <a:xfrm>
            <a:off x="9936480" y="2779776"/>
            <a:ext cx="1310640" cy="640080"/>
          </a:xfrm>
          <a:prstGeom prst="roundRect">
            <a:avLst>
              <a:gd name="adj" fmla="val 7143"/>
            </a:avLst>
          </a:prstGeom>
          <a:solidFill>
            <a:srgbClr val="C9A366"/>
          </a:solidFill>
          <a:ln/>
        </p:spPr>
      </p:sp>
      <p:sp>
        <p:nvSpPr>
          <p:cNvPr id="38" name="Shape 35"/>
          <p:cNvSpPr/>
          <p:nvPr/>
        </p:nvSpPr>
        <p:spPr>
          <a:xfrm>
            <a:off x="7132320" y="3557016"/>
            <a:ext cx="42062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PAGE 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31520" cy="731520"/>
          </a:xfrm>
          <a:prstGeom prst="ellipse">
            <a:avLst/>
          </a:prstGeom>
          <a:solidFill>
            <a:srgbClr val="5C4630"/>
          </a:solidFill>
          <a:ln/>
        </p:spPr>
      </p:sp>
      <p:pic>
        <p:nvPicPr>
          <p:cNvPr id="5" name="Image 0" descr="/home/claude/noteverse_ppt/icons/Uplo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161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Notes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463040" y="15361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library actually grows — student-contributed content.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86584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58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file picker for PDFs and images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53512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8254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subject, and semester tagging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3924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preview before final submission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087368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9593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straight into MySQL and linked to the uploader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903720" y="1965960"/>
            <a:ext cx="46634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C9A366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03720" y="1965960"/>
            <a:ext cx="4663440" cy="292608"/>
          </a:xfrm>
          <a:prstGeom prst="roundRect">
            <a:avLst>
              <a:gd name="adj" fmla="val 25000"/>
            </a:avLst>
          </a:prstGeom>
          <a:solidFill>
            <a:srgbClr val="5C463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03720" y="2112264"/>
            <a:ext cx="4663440" cy="146304"/>
          </a:xfrm>
          <a:prstGeom prst="rect">
            <a:avLst/>
          </a:prstGeom>
          <a:solidFill>
            <a:srgbClr val="5C4630"/>
          </a:solidFill>
          <a:ln/>
        </p:spPr>
      </p:sp>
      <p:sp>
        <p:nvSpPr>
          <p:cNvPr id="19" name="Shape 16"/>
          <p:cNvSpPr/>
          <p:nvPr/>
        </p:nvSpPr>
        <p:spPr>
          <a:xfrm>
            <a:off x="703173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0" name="Shape 17"/>
          <p:cNvSpPr/>
          <p:nvPr/>
        </p:nvSpPr>
        <p:spPr>
          <a:xfrm>
            <a:off x="721461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1" name="Shape 18"/>
          <p:cNvSpPr/>
          <p:nvPr/>
        </p:nvSpPr>
        <p:spPr>
          <a:xfrm>
            <a:off x="739749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2" name="Shape 19"/>
          <p:cNvSpPr/>
          <p:nvPr/>
        </p:nvSpPr>
        <p:spPr>
          <a:xfrm>
            <a:off x="69951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3" name="Text 20"/>
          <p:cNvSpPr/>
          <p:nvPr/>
        </p:nvSpPr>
        <p:spPr>
          <a:xfrm>
            <a:off x="69951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74192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5" name="Text 22"/>
          <p:cNvSpPr/>
          <p:nvPr/>
        </p:nvSpPr>
        <p:spPr>
          <a:xfrm>
            <a:off x="774192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48868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7" name="Text 24"/>
          <p:cNvSpPr/>
          <p:nvPr/>
        </p:nvSpPr>
        <p:spPr>
          <a:xfrm>
            <a:off x="848868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3544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C9A366"/>
          </a:solidFill>
          <a:ln/>
        </p:spPr>
      </p:sp>
      <p:sp>
        <p:nvSpPr>
          <p:cNvPr id="29" name="Text 26"/>
          <p:cNvSpPr/>
          <p:nvPr/>
        </p:nvSpPr>
        <p:spPr>
          <a:xfrm>
            <a:off x="923544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8220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31" name="Text 28"/>
          <p:cNvSpPr/>
          <p:nvPr/>
        </p:nvSpPr>
        <p:spPr>
          <a:xfrm>
            <a:off x="998220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7289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33" name="Text 30"/>
          <p:cNvSpPr/>
          <p:nvPr/>
        </p:nvSpPr>
        <p:spPr>
          <a:xfrm>
            <a:off x="107289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995160" y="2642616"/>
            <a:ext cx="4480560" cy="3163824"/>
          </a:xfrm>
          <a:prstGeom prst="rect">
            <a:avLst/>
          </a:prstGeom>
          <a:solidFill>
            <a:srgbClr val="F0E4C8"/>
          </a:solidFill>
          <a:ln/>
        </p:spPr>
      </p:sp>
      <p:sp>
        <p:nvSpPr>
          <p:cNvPr id="35" name="Shape 32"/>
          <p:cNvSpPr/>
          <p:nvPr/>
        </p:nvSpPr>
        <p:spPr>
          <a:xfrm>
            <a:off x="7269480" y="2825496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A366"/>
            </a:solidFill>
            <a:prstDash val="dash"/>
          </a:ln>
        </p:spPr>
      </p:sp>
      <p:pic>
        <p:nvPicPr>
          <p:cNvPr id="36" name="Image 1" descr="/home/claude/noteverse_ppt/icons/Upload_b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3099816"/>
            <a:ext cx="457200" cy="45720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7269480" y="4105656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E8D9B5"/>
          </a:solidFill>
          <a:ln/>
        </p:spPr>
      </p:sp>
      <p:sp>
        <p:nvSpPr>
          <p:cNvPr id="38" name="Shape 34"/>
          <p:cNvSpPr/>
          <p:nvPr/>
        </p:nvSpPr>
        <p:spPr>
          <a:xfrm>
            <a:off x="7269480" y="4517136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E8D9B5"/>
          </a:solidFill>
          <a:ln/>
        </p:spPr>
      </p:sp>
      <p:sp>
        <p:nvSpPr>
          <p:cNvPr id="39" name="Text 35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PAGE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31520" cy="731520"/>
          </a:xfrm>
          <a:prstGeom prst="ellipse">
            <a:avLst/>
          </a:prstGeom>
          <a:solidFill>
            <a:srgbClr val="5C4630"/>
          </a:solidFill>
          <a:ln/>
        </p:spPr>
      </p:sp>
      <p:pic>
        <p:nvPicPr>
          <p:cNvPr id="5" name="Image 0" descr="/home/claude/noteverse_ppt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161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/ Search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463040" y="15361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pile of notes into something instantly findable.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86584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58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with filters — subject, semester, unit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53512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8254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 of note cards with key details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3924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newest, most downloaded, or relevance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087368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9593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into a note's detail &amp; download view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903720" y="1965960"/>
            <a:ext cx="46634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C9A366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03720" y="1965960"/>
            <a:ext cx="4663440" cy="292608"/>
          </a:xfrm>
          <a:prstGeom prst="roundRect">
            <a:avLst>
              <a:gd name="adj" fmla="val 25000"/>
            </a:avLst>
          </a:prstGeom>
          <a:solidFill>
            <a:srgbClr val="5C463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03720" y="2112264"/>
            <a:ext cx="4663440" cy="146304"/>
          </a:xfrm>
          <a:prstGeom prst="rect">
            <a:avLst/>
          </a:prstGeom>
          <a:solidFill>
            <a:srgbClr val="5C4630"/>
          </a:solidFill>
          <a:ln/>
        </p:spPr>
      </p:sp>
      <p:sp>
        <p:nvSpPr>
          <p:cNvPr id="19" name="Shape 16"/>
          <p:cNvSpPr/>
          <p:nvPr/>
        </p:nvSpPr>
        <p:spPr>
          <a:xfrm>
            <a:off x="703173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0" name="Shape 17"/>
          <p:cNvSpPr/>
          <p:nvPr/>
        </p:nvSpPr>
        <p:spPr>
          <a:xfrm>
            <a:off x="721461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1" name="Shape 18"/>
          <p:cNvSpPr/>
          <p:nvPr/>
        </p:nvSpPr>
        <p:spPr>
          <a:xfrm>
            <a:off x="739749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2" name="Shape 19"/>
          <p:cNvSpPr/>
          <p:nvPr/>
        </p:nvSpPr>
        <p:spPr>
          <a:xfrm>
            <a:off x="69951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3" name="Text 20"/>
          <p:cNvSpPr/>
          <p:nvPr/>
        </p:nvSpPr>
        <p:spPr>
          <a:xfrm>
            <a:off x="69951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74192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5" name="Text 22"/>
          <p:cNvSpPr/>
          <p:nvPr/>
        </p:nvSpPr>
        <p:spPr>
          <a:xfrm>
            <a:off x="774192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48868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7" name="Text 24"/>
          <p:cNvSpPr/>
          <p:nvPr/>
        </p:nvSpPr>
        <p:spPr>
          <a:xfrm>
            <a:off x="848868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3544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9" name="Text 26"/>
          <p:cNvSpPr/>
          <p:nvPr/>
        </p:nvSpPr>
        <p:spPr>
          <a:xfrm>
            <a:off x="923544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8220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C9A366"/>
          </a:solidFill>
          <a:ln/>
        </p:spPr>
      </p:sp>
      <p:sp>
        <p:nvSpPr>
          <p:cNvPr id="31" name="Text 28"/>
          <p:cNvSpPr/>
          <p:nvPr/>
        </p:nvSpPr>
        <p:spPr>
          <a:xfrm>
            <a:off x="998220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7289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33" name="Text 30"/>
          <p:cNvSpPr/>
          <p:nvPr/>
        </p:nvSpPr>
        <p:spPr>
          <a:xfrm>
            <a:off x="107289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995160" y="2642616"/>
            <a:ext cx="4480560" cy="3163824"/>
          </a:xfrm>
          <a:prstGeom prst="rect">
            <a:avLst/>
          </a:prstGeom>
          <a:solidFill>
            <a:srgbClr val="F0E4C8"/>
          </a:solidFill>
          <a:ln/>
        </p:spPr>
      </p:sp>
      <p:sp>
        <p:nvSpPr>
          <p:cNvPr id="35" name="Shape 32"/>
          <p:cNvSpPr/>
          <p:nvPr/>
        </p:nvSpPr>
        <p:spPr>
          <a:xfrm>
            <a:off x="7132320" y="2779776"/>
            <a:ext cx="420624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32320" y="3236976"/>
            <a:ext cx="13106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534400" y="3236976"/>
            <a:ext cx="13106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936480" y="3236976"/>
            <a:ext cx="13106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132320" y="3922776"/>
            <a:ext cx="13106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534400" y="3922776"/>
            <a:ext cx="13106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936480" y="3922776"/>
            <a:ext cx="13106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PAGE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31520" cy="731520"/>
          </a:xfrm>
          <a:prstGeom prst="ellipse">
            <a:avLst/>
          </a:prstGeom>
          <a:solidFill>
            <a:srgbClr val="5C4630"/>
          </a:solidFill>
          <a:ln/>
        </p:spPr>
      </p:sp>
      <p:pic>
        <p:nvPicPr>
          <p:cNvPr id="5" name="Image 0" descr="/home/claude/noteverse_ppt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161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C4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463040" y="15361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students manage their identity and contributions.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86584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258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name, email, and account details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53512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8254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the user's uploaded notes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3924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settings, including password updates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087368"/>
            <a:ext cx="146304" cy="146304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9593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every upload back to a verifiable owner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903720" y="1965960"/>
            <a:ext cx="46634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C9A366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03720" y="1965960"/>
            <a:ext cx="4663440" cy="292608"/>
          </a:xfrm>
          <a:prstGeom prst="roundRect">
            <a:avLst>
              <a:gd name="adj" fmla="val 25000"/>
            </a:avLst>
          </a:prstGeom>
          <a:solidFill>
            <a:srgbClr val="5C463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03720" y="2112264"/>
            <a:ext cx="4663440" cy="146304"/>
          </a:xfrm>
          <a:prstGeom prst="rect">
            <a:avLst/>
          </a:prstGeom>
          <a:solidFill>
            <a:srgbClr val="5C4630"/>
          </a:solidFill>
          <a:ln/>
        </p:spPr>
      </p:sp>
      <p:sp>
        <p:nvSpPr>
          <p:cNvPr id="19" name="Shape 16"/>
          <p:cNvSpPr/>
          <p:nvPr/>
        </p:nvSpPr>
        <p:spPr>
          <a:xfrm>
            <a:off x="703173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0" name="Shape 17"/>
          <p:cNvSpPr/>
          <p:nvPr/>
        </p:nvSpPr>
        <p:spPr>
          <a:xfrm>
            <a:off x="721461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1" name="Shape 18"/>
          <p:cNvSpPr/>
          <p:nvPr/>
        </p:nvSpPr>
        <p:spPr>
          <a:xfrm>
            <a:off x="7397496" y="2057400"/>
            <a:ext cx="100584" cy="100584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22" name="Shape 19"/>
          <p:cNvSpPr/>
          <p:nvPr/>
        </p:nvSpPr>
        <p:spPr>
          <a:xfrm>
            <a:off x="69951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3" name="Text 20"/>
          <p:cNvSpPr/>
          <p:nvPr/>
        </p:nvSpPr>
        <p:spPr>
          <a:xfrm>
            <a:off x="69951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74192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5" name="Text 22"/>
          <p:cNvSpPr/>
          <p:nvPr/>
        </p:nvSpPr>
        <p:spPr>
          <a:xfrm>
            <a:off x="774192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48868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7" name="Text 24"/>
          <p:cNvSpPr/>
          <p:nvPr/>
        </p:nvSpPr>
        <p:spPr>
          <a:xfrm>
            <a:off x="848868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3544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29" name="Text 26"/>
          <p:cNvSpPr/>
          <p:nvPr/>
        </p:nvSpPr>
        <p:spPr>
          <a:xfrm>
            <a:off x="923544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8220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E8D9B5"/>
          </a:solidFill>
          <a:ln/>
        </p:spPr>
      </p:sp>
      <p:sp>
        <p:nvSpPr>
          <p:cNvPr id="31" name="Text 28"/>
          <p:cNvSpPr/>
          <p:nvPr/>
        </p:nvSpPr>
        <p:spPr>
          <a:xfrm>
            <a:off x="998220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728960" y="2258568"/>
            <a:ext cx="691896" cy="329184"/>
          </a:xfrm>
          <a:prstGeom prst="roundRect">
            <a:avLst>
              <a:gd name="adj" fmla="val 13889"/>
            </a:avLst>
          </a:prstGeom>
          <a:solidFill>
            <a:srgbClr val="C9A366"/>
          </a:solidFill>
          <a:ln/>
        </p:spPr>
      </p:sp>
      <p:sp>
        <p:nvSpPr>
          <p:cNvPr id="33" name="Text 30"/>
          <p:cNvSpPr/>
          <p:nvPr/>
        </p:nvSpPr>
        <p:spPr>
          <a:xfrm>
            <a:off x="10728960" y="225856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C4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995160" y="2642616"/>
            <a:ext cx="4480560" cy="3163824"/>
          </a:xfrm>
          <a:prstGeom prst="rect">
            <a:avLst/>
          </a:prstGeom>
          <a:solidFill>
            <a:srgbClr val="F0E4C8"/>
          </a:solidFill>
          <a:ln/>
        </p:spPr>
      </p:sp>
      <p:sp>
        <p:nvSpPr>
          <p:cNvPr id="35" name="Shape 32"/>
          <p:cNvSpPr/>
          <p:nvPr/>
        </p:nvSpPr>
        <p:spPr>
          <a:xfrm>
            <a:off x="8869680" y="2825496"/>
            <a:ext cx="731520" cy="731520"/>
          </a:xfrm>
          <a:prstGeom prst="ellipse">
            <a:avLst/>
          </a:prstGeom>
          <a:solidFill>
            <a:srgbClr val="C9A366"/>
          </a:solidFill>
          <a:ln/>
        </p:spPr>
      </p:sp>
      <p:sp>
        <p:nvSpPr>
          <p:cNvPr id="36" name="Shape 33"/>
          <p:cNvSpPr/>
          <p:nvPr/>
        </p:nvSpPr>
        <p:spPr>
          <a:xfrm>
            <a:off x="8412480" y="3694176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60920" y="4151376"/>
            <a:ext cx="37490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A36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Roadmap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phases from concept to 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474720"/>
            <a:ext cx="10515600" cy="0"/>
          </a:xfrm>
          <a:prstGeom prst="line">
            <a:avLst/>
          </a:prstGeom>
          <a:noFill/>
          <a:ln w="25400">
            <a:solidFill>
              <a:srgbClr val="6B5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3310128"/>
            <a:ext cx="329184" cy="329184"/>
          </a:xfrm>
          <a:prstGeom prst="ellipse">
            <a:avLst/>
          </a:prstGeom>
          <a:solidFill>
            <a:srgbClr val="C9A366"/>
          </a:solidFill>
          <a:ln w="25400">
            <a:solidFill>
              <a:srgbClr val="3D2E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0" cy="338328"/>
          </a:xfrm>
          <a:prstGeom prst="line">
            <a:avLst/>
          </a:prstGeom>
          <a:noFill/>
          <a:ln w="12700">
            <a:solidFill>
              <a:srgbClr val="6B5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2423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10968" y="3310128"/>
            <a:ext cx="329184" cy="329184"/>
          </a:xfrm>
          <a:prstGeom prst="ellipse">
            <a:avLst/>
          </a:prstGeom>
          <a:solidFill>
            <a:srgbClr val="B23A2E"/>
          </a:solidFill>
          <a:ln w="25400">
            <a:solidFill>
              <a:srgbClr val="3D2E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1096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75560" y="3639312"/>
            <a:ext cx="0" cy="182880"/>
          </a:xfrm>
          <a:prstGeom prst="line">
            <a:avLst/>
          </a:prstGeom>
          <a:noFill/>
          <a:ln w="12700">
            <a:solidFill>
              <a:srgbClr val="6B5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9760" y="38862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CSS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3568" y="3310128"/>
            <a:ext cx="329184" cy="329184"/>
          </a:xfrm>
          <a:prstGeom prst="ellipse">
            <a:avLst/>
          </a:prstGeom>
          <a:solidFill>
            <a:srgbClr val="6B5842"/>
          </a:solidFill>
          <a:ln w="25400">
            <a:solidFill>
              <a:srgbClr val="3D2E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356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28160" y="2971800"/>
            <a:ext cx="0" cy="338328"/>
          </a:xfrm>
          <a:prstGeom prst="line">
            <a:avLst/>
          </a:prstGeom>
          <a:noFill/>
          <a:ln w="12700">
            <a:solidFill>
              <a:srgbClr val="6B5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2360" y="2423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16168" y="3310128"/>
            <a:ext cx="329184" cy="329184"/>
          </a:xfrm>
          <a:prstGeom prst="ellipse">
            <a:avLst/>
          </a:prstGeom>
          <a:solidFill>
            <a:srgbClr val="6B5842"/>
          </a:solidFill>
          <a:ln w="25400">
            <a:solidFill>
              <a:srgbClr val="3D2E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3639312"/>
            <a:ext cx="0" cy="182880"/>
          </a:xfrm>
          <a:prstGeom prst="line">
            <a:avLst/>
          </a:prstGeom>
          <a:noFill/>
          <a:ln w="12700">
            <a:solidFill>
              <a:srgbClr val="6B5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38862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68768" y="3310128"/>
            <a:ext cx="329184" cy="329184"/>
          </a:xfrm>
          <a:prstGeom prst="ellipse">
            <a:avLst/>
          </a:prstGeom>
          <a:solidFill>
            <a:srgbClr val="6B5842"/>
          </a:solidFill>
          <a:ln w="25400">
            <a:solidFill>
              <a:srgbClr val="3D2E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876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33360" y="2971800"/>
            <a:ext cx="0" cy="338328"/>
          </a:xfrm>
          <a:prstGeom prst="line">
            <a:avLst/>
          </a:prstGeom>
          <a:noFill/>
          <a:ln w="12700">
            <a:solidFill>
              <a:srgbClr val="6B58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47560" y="2423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21368" y="3310128"/>
            <a:ext cx="329184" cy="329184"/>
          </a:xfrm>
          <a:prstGeom prst="ellipse">
            <a:avLst/>
          </a:prstGeom>
          <a:solidFill>
            <a:srgbClr val="6B5842"/>
          </a:solidFill>
          <a:ln w="25400">
            <a:solidFill>
              <a:srgbClr val="3D2E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2136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85960" y="3639312"/>
            <a:ext cx="0" cy="182880"/>
          </a:xfrm>
          <a:prstGeom prst="line">
            <a:avLst/>
          </a:prstGeom>
          <a:noFill/>
          <a:ln w="12700">
            <a:solidFill>
              <a:srgbClr val="6B58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00160" y="38862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173968" y="3310128"/>
            <a:ext cx="329184" cy="329184"/>
          </a:xfrm>
          <a:prstGeom prst="ellipse">
            <a:avLst/>
          </a:prstGeom>
          <a:solidFill>
            <a:srgbClr val="6B5842"/>
          </a:solidFill>
          <a:ln w="25400">
            <a:solidFill>
              <a:srgbClr val="3D2E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7396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338560" y="2971800"/>
            <a:ext cx="0" cy="338328"/>
          </a:xfrm>
          <a:prstGeom prst="line">
            <a:avLst/>
          </a:prstGeom>
          <a:noFill/>
          <a:ln w="12700">
            <a:solidFill>
              <a:srgbClr val="6B58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52760" y="2423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023360" y="5394960"/>
            <a:ext cx="4114800" cy="502920"/>
          </a:xfrm>
          <a:prstGeom prst="roundRect">
            <a:avLst>
              <a:gd name="adj" fmla="val 50909"/>
            </a:avLst>
          </a:prstGeom>
          <a:solidFill>
            <a:srgbClr val="B23A2E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0" y="5394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Currently in Phase 2 — CSS &amp; Visual Styling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A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D2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oteverse_ppt/icons/Folder_brown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1097280" y="13716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24688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B23A2E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2971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6868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A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4709160"/>
            <a:ext cx="2926080" cy="0"/>
          </a:xfrm>
          <a:prstGeom prst="line">
            <a:avLst/>
          </a:prstGeom>
          <a:noFill/>
          <a:ln w="12700">
            <a:solidFill>
              <a:srgbClr val="C9A3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892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Mohammed Ibad  •  NoteVerse  •  </a:t>
            </a:r>
            <a:r>
              <a:rPr lang="en-US" sz="1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BCA Second 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Project, GTU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A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</Words>
  <Application>Microsoft Office PowerPoint</Application>
  <PresentationFormat>Widescreen</PresentationFormat>
  <Paragraphs>208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Ibad Shaikh</cp:lastModifiedBy>
  <cp:revision>3</cp:revision>
  <dcterms:created xsi:type="dcterms:W3CDTF">2026-08-06T03:35:10Z</dcterms:created>
  <dcterms:modified xsi:type="dcterms:W3CDTF">2026-08-06T03:40:21Z</dcterms:modified>
</cp:coreProperties>
</file>